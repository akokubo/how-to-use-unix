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355" r:id="rId2"/>
    <p:sldId id="356" r:id="rId3"/>
    <p:sldId id="357" r:id="rId4"/>
    <p:sldId id="358" r:id="rId5"/>
    <p:sldId id="359" r:id="rId6"/>
    <p:sldId id="364" r:id="rId7"/>
    <p:sldId id="360" r:id="rId8"/>
    <p:sldId id="365" r:id="rId9"/>
    <p:sldId id="361" r:id="rId10"/>
    <p:sldId id="3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67"/>
    <p:restoredTop sz="94813"/>
  </p:normalViewPr>
  <p:slideViewPr>
    <p:cSldViewPr snapToGrid="0">
      <p:cViewPr>
        <p:scale>
          <a:sx n="100" d="100"/>
          <a:sy n="100" d="100"/>
        </p:scale>
        <p:origin x="7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D0302-6A01-B948-9EFD-7D48D6E1EA17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A6D34-DBFE-5445-B002-AE61A15C33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8243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71D0-F083-AA46-BA1D-B30058881D54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38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A724-01AF-534A-8324-F59D8188BB4B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572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EBD0-A6D7-3C40-90A7-46FE9A29449D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273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EAA0-0290-A049-AB0E-77368EA7DC5E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27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A66C-4753-9D4A-A4D0-A2D05FD4BDE9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806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CED1-5CC5-134F-9F83-99A3A9CC9AE6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10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22A9-7A7F-5647-953B-2EC2F1A5BD2B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5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A774-2567-1442-9B0E-3143FE8D8F09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37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A5AB-F34F-CA44-9B14-2CA68E357C6F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0661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72798-86BF-D645-832E-B6E4AAE05135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17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AD8DB-1ADE-354C-8BE1-5D258B458081}" type="datetime1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68282-E4A1-3A4C-91E9-99AA43AB2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69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C78B245-F1D2-CD46-ADA5-3D00524C4F4C}" type="datetime1">
              <a:rPr kumimoji="1" lang="ja-JP" altLang="en-US" smtClean="0"/>
              <a:pPr/>
              <a:t>2025/6/3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F68282-E4A1-3A4C-91E9-99AA43AB292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4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C506DB43-30AF-CE12-108D-6C24EAC06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990" y="1470102"/>
            <a:ext cx="304800" cy="3048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ABBE7E6-26C0-BF9E-6A95-F319A62EC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63" y="1464526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52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6D20-E887-13E8-749C-1C0D88F6A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C29F623-D390-0E9B-4DC9-C3A2F971221F}"/>
              </a:ext>
            </a:extLst>
          </p:cNvPr>
          <p:cNvGrpSpPr/>
          <p:nvPr/>
        </p:nvGrpSpPr>
        <p:grpSpPr>
          <a:xfrm>
            <a:off x="1778619" y="488849"/>
            <a:ext cx="457200" cy="3753248"/>
            <a:chOff x="1778619" y="488849"/>
            <a:chExt cx="457200" cy="3753248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5EAD4599-2EA5-FD2E-8F2B-4F0803096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8619" y="488849"/>
              <a:ext cx="457200" cy="45720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3E6EDD6F-F5CE-3DDB-6839-A588F880E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8619" y="3784897"/>
              <a:ext cx="457200" cy="457200"/>
            </a:xfrm>
            <a:prstGeom prst="rect">
              <a:avLst/>
            </a:prstGeom>
          </p:spPr>
        </p:pic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7D2A3153-3EB6-D2D2-4624-28FBEA698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8619" y="1312861"/>
              <a:ext cx="457200" cy="457200"/>
            </a:xfrm>
            <a:prstGeom prst="rect">
              <a:avLst/>
            </a:prstGeom>
          </p:spPr>
        </p:pic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5E3071E-3A9E-E8F2-2887-48DD797A2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8619" y="2136873"/>
              <a:ext cx="457200" cy="457200"/>
            </a:xfrm>
            <a:prstGeom prst="rect">
              <a:avLst/>
            </a:prstGeom>
          </p:spPr>
        </p:pic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8023338E-B984-6CD7-EC92-FC0ADC7E8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8619" y="2960885"/>
              <a:ext cx="457200" cy="457200"/>
            </a:xfrm>
            <a:prstGeom prst="rect">
              <a:avLst/>
            </a:prstGeom>
          </p:spPr>
        </p:pic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64BB71-688F-A8E7-DB40-99A16893D15F}"/>
              </a:ext>
            </a:extLst>
          </p:cNvPr>
          <p:cNvSpPr txBox="1"/>
          <p:nvPr/>
        </p:nvSpPr>
        <p:spPr>
          <a:xfrm>
            <a:off x="2397513" y="561726"/>
            <a:ext cx="119776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/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home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taro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practice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 err="1"/>
              <a:t>info.txt</a:t>
            </a:r>
            <a:endParaRPr kumimoji="1" lang="en-US" altLang="ja-JP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E2DD43C-5868-DC00-A467-BE8D8D6602EB}"/>
              </a:ext>
            </a:extLst>
          </p:cNvPr>
          <p:cNvGrpSpPr/>
          <p:nvPr/>
        </p:nvGrpSpPr>
        <p:grpSpPr>
          <a:xfrm>
            <a:off x="4572000" y="488849"/>
            <a:ext cx="457200" cy="3753248"/>
            <a:chOff x="4572000" y="488849"/>
            <a:chExt cx="457200" cy="3753248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D8ADD9D-82C7-AE83-7855-2E0559751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488849"/>
              <a:ext cx="457200" cy="4572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62887A52-8D7A-50B4-0990-4FAE8A5FD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312861"/>
              <a:ext cx="457200" cy="457200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5135DC9D-1B06-81E8-B09E-8B050A1AB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2136873"/>
              <a:ext cx="457200" cy="457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2B5DCAB5-498D-67F5-275D-FA757306F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2960885"/>
              <a:ext cx="457200" cy="457200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A273A26E-FE32-CE40-8FA0-E4CDE2808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3784897"/>
              <a:ext cx="457200" cy="457200"/>
            </a:xfrm>
            <a:prstGeom prst="rect">
              <a:avLst/>
            </a:prstGeom>
          </p:spPr>
        </p:pic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CE9DC98-4C6E-7B77-9037-B7BE07DB6AD4}"/>
              </a:ext>
            </a:extLst>
          </p:cNvPr>
          <p:cNvGrpSpPr/>
          <p:nvPr/>
        </p:nvGrpSpPr>
        <p:grpSpPr>
          <a:xfrm>
            <a:off x="5931458" y="561726"/>
            <a:ext cx="457200" cy="2929236"/>
            <a:chOff x="6471122" y="1267070"/>
            <a:chExt cx="457200" cy="2929236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6B9B6893-A412-8CD7-6836-CE13793BE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1122" y="3739106"/>
              <a:ext cx="457200" cy="457200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D7F77BC7-52CD-2ED0-621D-68E7F2AA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1122" y="1267070"/>
              <a:ext cx="457200" cy="457200"/>
            </a:xfrm>
            <a:prstGeom prst="rect">
              <a:avLst/>
            </a:prstGeom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9033D5E6-0383-AB97-66CC-EE1528FDF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1122" y="2091082"/>
              <a:ext cx="457200" cy="457200"/>
            </a:xfrm>
            <a:prstGeom prst="rect">
              <a:avLst/>
            </a:prstGeom>
          </p:spPr>
        </p:pic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07D2C40D-9848-1655-1553-9EB936289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1122" y="2915094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312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2530-37A8-4DF6-3B73-FCAB5149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03DF2C07-6422-2FAB-466A-5BDB012BCE33}"/>
              </a:ext>
            </a:extLst>
          </p:cNvPr>
          <p:cNvGrpSpPr/>
          <p:nvPr/>
        </p:nvGrpSpPr>
        <p:grpSpPr>
          <a:xfrm>
            <a:off x="157984" y="1289599"/>
            <a:ext cx="11094471" cy="3758823"/>
            <a:chOff x="317472" y="492157"/>
            <a:chExt cx="11094471" cy="3758823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13085DD-A45C-DEAF-CFF8-45AFE042451A}"/>
                </a:ext>
              </a:extLst>
            </p:cNvPr>
            <p:cNvSpPr txBox="1">
              <a:spLocks/>
            </p:cNvSpPr>
            <p:nvPr/>
          </p:nvSpPr>
          <p:spPr>
            <a:xfrm>
              <a:off x="738828" y="557661"/>
              <a:ext cx="10673115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                                    /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            bin         </a:t>
              </a:r>
              <a:r>
                <a:rPr kumimoji="1" lang="en-US" altLang="ja-JP" dirty="0" err="1"/>
                <a:t>usr</a:t>
              </a:r>
              <a:r>
                <a:rPr kumimoji="1" lang="en-US" altLang="ja-JP" dirty="0"/>
                <a:t>         </a:t>
              </a:r>
              <a:r>
                <a:rPr kumimoji="1" lang="en-US" altLang="ja-JP" dirty="0" err="1"/>
                <a:t>etc</a:t>
              </a:r>
              <a:r>
                <a:rPr kumimoji="1" lang="en-US" altLang="ja-JP" dirty="0"/>
                <a:t>         var         home </a:t>
              </a:r>
              <a:r>
                <a:rPr kumimoji="1" lang="ja-JP" altLang="en-US"/>
                <a:t>や</a:t>
              </a:r>
              <a:r>
                <a:rPr kumimoji="1" lang="en-US" altLang="ja-JP" dirty="0"/>
                <a:t> Users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ls          cp          bin         passwd      log         taro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            </a:t>
              </a:r>
              <a:r>
                <a:rPr kumimoji="1" lang="en-US" altLang="ja-JP" dirty="0" err="1"/>
                <a:t>bc</a:t>
              </a:r>
              <a:r>
                <a:rPr kumimoji="1" lang="en-US" altLang="ja-JP" dirty="0"/>
                <a:t>          zip                     syslog</a:t>
              </a:r>
              <a:r>
                <a:rPr kumimoji="1" lang="ja-JP" altLang="en-US"/>
                <a:t>他</a:t>
              </a:r>
              <a:r>
                <a:rPr kumimoji="1" lang="en-US" altLang="ja-JP" dirty="0"/>
                <a:t>    </a:t>
              </a:r>
              <a:r>
                <a:rPr kumimoji="1" lang="en-US" altLang="ja-JP" dirty="0" err="1"/>
                <a:t>ima.txt</a:t>
              </a:r>
              <a:r>
                <a:rPr kumimoji="1" lang="en-US" altLang="ja-JP" dirty="0"/>
                <a:t>     practice</a:t>
              </a:r>
            </a:p>
            <a:p>
              <a:r>
                <a:rPr kumimoji="1" lang="ja-JP" altLang="en-US"/>
                <a:t>　　　　　　　　　　　　　　　　　　</a:t>
              </a:r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                                                                        </a:t>
              </a:r>
              <a:r>
                <a:rPr kumimoji="1" lang="en-US" altLang="ja-JP" dirty="0" err="1"/>
                <a:t>info.txt</a:t>
              </a:r>
              <a:endParaRPr kumimoji="1" lang="en-US" altLang="ja-JP" dirty="0"/>
            </a:p>
          </p:txBody>
        </p: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69BA665B-7B4A-DBC9-AF61-42AF9150B2F7}"/>
                </a:ext>
              </a:extLst>
            </p:cNvPr>
            <p:cNvGrpSpPr/>
            <p:nvPr/>
          </p:nvGrpSpPr>
          <p:grpSpPr>
            <a:xfrm>
              <a:off x="317472" y="492157"/>
              <a:ext cx="9481112" cy="3748701"/>
              <a:chOff x="317472" y="492157"/>
              <a:chExt cx="9481112" cy="3748701"/>
            </a:xfrm>
          </p:grpSpPr>
          <p:pic>
            <p:nvPicPr>
              <p:cNvPr id="6" name="図 5">
                <a:extLst>
                  <a:ext uri="{FF2B5EF4-FFF2-40B4-BE49-F238E27FC236}">
                    <a16:creationId xmlns:a16="http://schemas.microsoft.com/office/drawing/2014/main" id="{60C3C967-8E95-A90E-6A50-8D8DDBC7E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65401" y="492157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2" name="図 1">
                <a:extLst>
                  <a:ext uri="{FF2B5EF4-FFF2-40B4-BE49-F238E27FC236}">
                    <a16:creationId xmlns:a16="http://schemas.microsoft.com/office/drawing/2014/main" id="{57F4F3E3-3593-5086-2771-C3D3DDC8AE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99885" y="1312861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4" name="図 3">
                <a:extLst>
                  <a:ext uri="{FF2B5EF4-FFF2-40B4-BE49-F238E27FC236}">
                    <a16:creationId xmlns:a16="http://schemas.microsoft.com/office/drawing/2014/main" id="{43C11A47-B021-14B8-5292-E140203F8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43740" y="2136873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7E935ED4-F6F5-0C40-0356-3548D4E82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46096" y="1312861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28B0A3C1-D9D2-C62E-73B8-850BD7EA55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56444" y="2142330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27" name="図 26">
                <a:extLst>
                  <a:ext uri="{FF2B5EF4-FFF2-40B4-BE49-F238E27FC236}">
                    <a16:creationId xmlns:a16="http://schemas.microsoft.com/office/drawing/2014/main" id="{0EE3C032-C0B4-3442-EEF5-467EB2B6C8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66184" y="1312861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91934F90-0B68-7FF8-12CE-6EFE1E6EAE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43740" y="1312861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29" name="図 28">
                <a:extLst>
                  <a:ext uri="{FF2B5EF4-FFF2-40B4-BE49-F238E27FC236}">
                    <a16:creationId xmlns:a16="http://schemas.microsoft.com/office/drawing/2014/main" id="{42CCBE27-6B21-77DB-5040-190965FCE2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56444" y="1312861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A81A72E6-3CB5-E902-9B53-020F67A0CB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56444" y="2960885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2" name="図 31">
                <a:extLst>
                  <a:ext uri="{FF2B5EF4-FFF2-40B4-BE49-F238E27FC236}">
                    <a16:creationId xmlns:a16="http://schemas.microsoft.com/office/drawing/2014/main" id="{59FAD83B-4109-80B9-3402-0496074EB4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0865" y="2965704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3" name="図 32">
                <a:extLst>
                  <a:ext uri="{FF2B5EF4-FFF2-40B4-BE49-F238E27FC236}">
                    <a16:creationId xmlns:a16="http://schemas.microsoft.com/office/drawing/2014/main" id="{1AE0B481-EB8E-A73C-225D-B2F365A984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341384" y="2971800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4" name="図 33">
                <a:extLst>
                  <a:ext uri="{FF2B5EF4-FFF2-40B4-BE49-F238E27FC236}">
                    <a16:creationId xmlns:a16="http://schemas.microsoft.com/office/drawing/2014/main" id="{FF82FA64-E9F4-33A9-D230-475D68B97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46096" y="2136873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6" name="図 35">
                <a:extLst>
                  <a:ext uri="{FF2B5EF4-FFF2-40B4-BE49-F238E27FC236}">
                    <a16:creationId xmlns:a16="http://schemas.microsoft.com/office/drawing/2014/main" id="{75875B2A-764B-E3DD-6951-032C93094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6096" y="2949450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7" name="図 36">
                <a:extLst>
                  <a:ext uri="{FF2B5EF4-FFF2-40B4-BE49-F238E27FC236}">
                    <a16:creationId xmlns:a16="http://schemas.microsoft.com/office/drawing/2014/main" id="{F84EEAAB-37AE-8F3E-1BF8-EDB9CF7CA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43740" y="2960885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8" name="図 37">
                <a:extLst>
                  <a:ext uri="{FF2B5EF4-FFF2-40B4-BE49-F238E27FC236}">
                    <a16:creationId xmlns:a16="http://schemas.microsoft.com/office/drawing/2014/main" id="{E881C1EA-E815-B6D7-6968-4EDA3F4899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41384" y="3783658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9" name="図 38">
                <a:extLst>
                  <a:ext uri="{FF2B5EF4-FFF2-40B4-BE49-F238E27FC236}">
                    <a16:creationId xmlns:a16="http://schemas.microsoft.com/office/drawing/2014/main" id="{DAB2F77F-826A-0FEA-79E7-51D7E7968A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472" y="2136873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29A3E6B4-4912-8B06-AEDA-D74485E02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5401" y="2133565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41" name="図 40">
                <a:extLst>
                  <a:ext uri="{FF2B5EF4-FFF2-40B4-BE49-F238E27FC236}">
                    <a16:creationId xmlns:a16="http://schemas.microsoft.com/office/drawing/2014/main" id="{191B0701-316E-57E0-3FCE-F5C6EE0536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9885" y="2136873"/>
                <a:ext cx="457200" cy="457200"/>
              </a:xfrm>
              <a:prstGeom prst="rect">
                <a:avLst/>
              </a:prstGeom>
            </p:spPr>
          </p:pic>
        </p:grp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DDC1204D-9CB1-EA7C-C525-E40935CB1E7F}"/>
                </a:ext>
              </a:extLst>
            </p:cNvPr>
            <p:cNvCxnSpPr>
              <a:cxnSpLocks/>
            </p:cNvCxnSpPr>
            <p:nvPr/>
          </p:nvCxnSpPr>
          <p:spPr>
            <a:xfrm>
              <a:off x="5089927" y="847519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104C8608-482A-7929-319A-A75934699A75}"/>
                </a:ext>
              </a:extLst>
            </p:cNvPr>
            <p:cNvCxnSpPr>
              <a:cxnSpLocks/>
            </p:cNvCxnSpPr>
            <p:nvPr/>
          </p:nvCxnSpPr>
          <p:spPr>
            <a:xfrm>
              <a:off x="5089927" y="1672522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89B57EDA-9217-1114-9B87-30AEDBEA803E}"/>
                </a:ext>
              </a:extLst>
            </p:cNvPr>
            <p:cNvCxnSpPr>
              <a:cxnSpLocks/>
            </p:cNvCxnSpPr>
            <p:nvPr/>
          </p:nvCxnSpPr>
          <p:spPr>
            <a:xfrm>
              <a:off x="6568740" y="1682316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EEFA6BB3-CFDF-3B68-2186-1EE9B0902E3E}"/>
                </a:ext>
              </a:extLst>
            </p:cNvPr>
            <p:cNvCxnSpPr>
              <a:cxnSpLocks/>
            </p:cNvCxnSpPr>
            <p:nvPr/>
          </p:nvCxnSpPr>
          <p:spPr>
            <a:xfrm>
              <a:off x="6568740" y="2517952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17DC65B4-5317-06DB-E7B2-4B86A495C4C1}"/>
                </a:ext>
              </a:extLst>
            </p:cNvPr>
            <p:cNvCxnSpPr>
              <a:cxnSpLocks/>
            </p:cNvCxnSpPr>
            <p:nvPr/>
          </p:nvCxnSpPr>
          <p:spPr>
            <a:xfrm>
              <a:off x="8087028" y="1682316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D8ABDC2B-728F-2051-E948-EB6517068506}"/>
                </a:ext>
              </a:extLst>
            </p:cNvPr>
            <p:cNvCxnSpPr>
              <a:cxnSpLocks/>
            </p:cNvCxnSpPr>
            <p:nvPr/>
          </p:nvCxnSpPr>
          <p:spPr>
            <a:xfrm>
              <a:off x="8087028" y="2517952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31536FE0-2D76-6547-76A4-E0A1CDDAE482}"/>
                </a:ext>
              </a:extLst>
            </p:cNvPr>
            <p:cNvCxnSpPr>
              <a:cxnSpLocks/>
            </p:cNvCxnSpPr>
            <p:nvPr/>
          </p:nvCxnSpPr>
          <p:spPr>
            <a:xfrm>
              <a:off x="9566384" y="3354330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02639168-8782-C857-535C-9A28F856E2A6}"/>
                </a:ext>
              </a:extLst>
            </p:cNvPr>
            <p:cNvCxnSpPr>
              <a:cxnSpLocks/>
            </p:cNvCxnSpPr>
            <p:nvPr/>
          </p:nvCxnSpPr>
          <p:spPr>
            <a:xfrm>
              <a:off x="3559443" y="1671185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65F254D4-3E9B-4C26-215E-6055BA71AE93}"/>
                </a:ext>
              </a:extLst>
            </p:cNvPr>
            <p:cNvCxnSpPr>
              <a:cxnSpLocks/>
            </p:cNvCxnSpPr>
            <p:nvPr/>
          </p:nvCxnSpPr>
          <p:spPr>
            <a:xfrm>
              <a:off x="3577511" y="1155138"/>
              <a:ext cx="360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225C727D-C9FE-2F94-576C-6886783496FE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50" y="1145666"/>
              <a:ext cx="60772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7C20C35D-0F57-7ACC-38A3-AEEC6F237E59}"/>
                </a:ext>
              </a:extLst>
            </p:cNvPr>
            <p:cNvCxnSpPr>
              <a:cxnSpLocks/>
            </p:cNvCxnSpPr>
            <p:nvPr/>
          </p:nvCxnSpPr>
          <p:spPr>
            <a:xfrm>
              <a:off x="2024885" y="1154090"/>
              <a:ext cx="360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F7E6CCCB-F9FE-6152-3A22-E40EF1A4ADA8}"/>
                </a:ext>
              </a:extLst>
            </p:cNvPr>
            <p:cNvCxnSpPr>
              <a:cxnSpLocks/>
            </p:cNvCxnSpPr>
            <p:nvPr/>
          </p:nvCxnSpPr>
          <p:spPr>
            <a:xfrm>
              <a:off x="6577694" y="1156600"/>
              <a:ext cx="360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39A8EE3A-FCF9-658B-E0B9-2F4A6A84B02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444" y="1137199"/>
              <a:ext cx="360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コネクタ 75">
              <a:extLst>
                <a:ext uri="{FF2B5EF4-FFF2-40B4-BE49-F238E27FC236}">
                  <a16:creationId xmlns:a16="http://schemas.microsoft.com/office/drawing/2014/main" id="{7263B3D1-91B6-7374-2945-6A3E85B983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7950" y="1672522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17DF1348-F02F-72CB-FF40-21D04992EAEE}"/>
                </a:ext>
              </a:extLst>
            </p:cNvPr>
            <p:cNvCxnSpPr>
              <a:cxnSpLocks/>
            </p:cNvCxnSpPr>
            <p:nvPr/>
          </p:nvCxnSpPr>
          <p:spPr>
            <a:xfrm>
              <a:off x="545279" y="1932988"/>
              <a:ext cx="3600" cy="251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96B44F19-E6E5-AEFF-F63A-4398F238F597}"/>
                </a:ext>
              </a:extLst>
            </p:cNvPr>
            <p:cNvCxnSpPr>
              <a:cxnSpLocks/>
            </p:cNvCxnSpPr>
            <p:nvPr/>
          </p:nvCxnSpPr>
          <p:spPr>
            <a:xfrm>
              <a:off x="545279" y="1941455"/>
              <a:ext cx="14788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B87D0D67-95F1-89A0-881D-5B8E92E96C0C}"/>
                </a:ext>
              </a:extLst>
            </p:cNvPr>
            <p:cNvCxnSpPr>
              <a:cxnSpLocks/>
            </p:cNvCxnSpPr>
            <p:nvPr/>
          </p:nvCxnSpPr>
          <p:spPr>
            <a:xfrm>
              <a:off x="3548187" y="2491072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6D25038D-DF22-28A6-E95F-E30C67BBEAAC}"/>
                </a:ext>
              </a:extLst>
            </p:cNvPr>
            <p:cNvCxnSpPr>
              <a:cxnSpLocks/>
            </p:cNvCxnSpPr>
            <p:nvPr/>
          </p:nvCxnSpPr>
          <p:spPr>
            <a:xfrm>
              <a:off x="2085516" y="2751538"/>
              <a:ext cx="3600" cy="251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C82B1A6E-D2DB-FDE7-55AF-9484488AE9E4}"/>
                </a:ext>
              </a:extLst>
            </p:cNvPr>
            <p:cNvCxnSpPr>
              <a:cxnSpLocks/>
            </p:cNvCxnSpPr>
            <p:nvPr/>
          </p:nvCxnSpPr>
          <p:spPr>
            <a:xfrm>
              <a:off x="2085516" y="2760005"/>
              <a:ext cx="14788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コネクタ 85">
              <a:extLst>
                <a:ext uri="{FF2B5EF4-FFF2-40B4-BE49-F238E27FC236}">
                  <a16:creationId xmlns:a16="http://schemas.microsoft.com/office/drawing/2014/main" id="{5AE032AF-2C90-78FA-455C-E66BFFA25D7C}"/>
                </a:ext>
              </a:extLst>
            </p:cNvPr>
            <p:cNvCxnSpPr>
              <a:cxnSpLocks/>
            </p:cNvCxnSpPr>
            <p:nvPr/>
          </p:nvCxnSpPr>
          <p:spPr>
            <a:xfrm>
              <a:off x="9562784" y="2839735"/>
              <a:ext cx="3600" cy="251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3BC467CD-745E-54F2-1E84-940903348262}"/>
                </a:ext>
              </a:extLst>
            </p:cNvPr>
            <p:cNvCxnSpPr>
              <a:cxnSpLocks/>
            </p:cNvCxnSpPr>
            <p:nvPr/>
          </p:nvCxnSpPr>
          <p:spPr>
            <a:xfrm>
              <a:off x="8088828" y="2827741"/>
              <a:ext cx="14788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E608169B-83E0-E695-B469-9CDC7710A74F}"/>
              </a:ext>
            </a:extLst>
          </p:cNvPr>
          <p:cNvSpPr txBox="1"/>
          <p:nvPr/>
        </p:nvSpPr>
        <p:spPr>
          <a:xfrm>
            <a:off x="3182442" y="695353"/>
            <a:ext cx="3961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UNIX</a:t>
            </a:r>
            <a:r>
              <a:rPr kumimoji="1" lang="ja-JP" altLang="en-US" sz="3200" b="1"/>
              <a:t>のファイル構造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14063F-74AD-0DBE-9B18-9D4EF183A2E7}"/>
              </a:ext>
            </a:extLst>
          </p:cNvPr>
          <p:cNvSpPr txBox="1"/>
          <p:nvPr/>
        </p:nvSpPr>
        <p:spPr>
          <a:xfrm>
            <a:off x="279400" y="21590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unixtree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46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CA46-ED2E-DECE-4280-323000E2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9C7337C-7576-027F-3941-7E62DB6CB031}"/>
              </a:ext>
            </a:extLst>
          </p:cNvPr>
          <p:cNvGrpSpPr/>
          <p:nvPr/>
        </p:nvGrpSpPr>
        <p:grpSpPr>
          <a:xfrm>
            <a:off x="3708235" y="1254149"/>
            <a:ext cx="3139791" cy="3738966"/>
            <a:chOff x="316448" y="512014"/>
            <a:chExt cx="3139791" cy="3738966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664C20E-079F-F9BA-05BC-050C102314BB}"/>
                </a:ext>
              </a:extLst>
            </p:cNvPr>
            <p:cNvSpPr txBox="1">
              <a:spLocks/>
            </p:cNvSpPr>
            <p:nvPr/>
          </p:nvSpPr>
          <p:spPr>
            <a:xfrm>
              <a:off x="738828" y="557661"/>
              <a:ext cx="2717411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/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home, Users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taro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 err="1"/>
                <a:t>ima.txt</a:t>
              </a:r>
              <a:r>
                <a:rPr kumimoji="1" lang="en-US" altLang="ja-JP" dirty="0"/>
                <a:t>     practice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            </a:t>
              </a:r>
              <a:r>
                <a:rPr kumimoji="1" lang="en-US" altLang="ja-JP" dirty="0" err="1"/>
                <a:t>info.txt</a:t>
              </a:r>
              <a:endParaRPr kumimoji="1" lang="en-US" altLang="ja-JP" dirty="0"/>
            </a:p>
          </p:txBody>
        </p: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74A9D1A8-FA58-412A-7D87-6EBDB7E19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3197" y="2833778"/>
              <a:ext cx="5399" cy="234612"/>
            </a:xfrm>
            <a:prstGeom prst="line">
              <a:avLst/>
            </a:prstGeom>
            <a:ln w="25400">
              <a:solidFill>
                <a:schemeClr val="bg2"/>
              </a:solidFill>
              <a:headEnd type="triangle" w="lg" len="lg"/>
              <a:tail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27BF6A93-BDA6-89E3-3E5A-1EB1B5AC78BD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847805"/>
              <a:ext cx="1478813" cy="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C065743-7898-47A5-5287-560A727B3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1359500"/>
              <a:ext cx="457200" cy="457200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580D9880-E1EC-9031-E16D-F9302C2B1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2183512"/>
              <a:ext cx="457200" cy="45720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16CBC1B5-3B44-4B68-8586-22D08DE12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8" y="2996089"/>
              <a:ext cx="457200" cy="4572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637BF743-2C8A-70E2-AFFD-7C78DBD93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4597" y="2964422"/>
              <a:ext cx="457200" cy="457200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87D43A3-7094-0ED6-ACC2-065153D0E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6918" y="3774855"/>
              <a:ext cx="457200" cy="457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FC355F78-06DD-0D82-749D-10383901A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448" y="512014"/>
              <a:ext cx="457200" cy="457200"/>
            </a:xfrm>
            <a:prstGeom prst="rect">
              <a:avLst/>
            </a:prstGeom>
          </p:spPr>
        </p:pic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3CB08932-A827-C4AC-2A19-DE3FB3E590BF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7" y="1718528"/>
              <a:ext cx="3600" cy="576000"/>
            </a:xfrm>
            <a:prstGeom prst="line">
              <a:avLst/>
            </a:prstGeom>
            <a:ln w="25400">
              <a:solidFill>
                <a:schemeClr val="bg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F66673FF-3D17-1CEC-4917-B6C419864B3D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538415"/>
              <a:ext cx="3600" cy="503999"/>
            </a:xfrm>
            <a:prstGeom prst="line">
              <a:avLst/>
            </a:prstGeom>
            <a:ln w="25400">
              <a:solidFill>
                <a:schemeClr val="bg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9F73F7EA-956F-F25D-FF68-3643488E340B}"/>
                </a:ext>
              </a:extLst>
            </p:cNvPr>
            <p:cNvCxnSpPr>
              <a:cxnSpLocks/>
            </p:cNvCxnSpPr>
            <p:nvPr/>
          </p:nvCxnSpPr>
          <p:spPr>
            <a:xfrm>
              <a:off x="538188" y="892436"/>
              <a:ext cx="3600" cy="576000"/>
            </a:xfrm>
            <a:prstGeom prst="line">
              <a:avLst/>
            </a:prstGeom>
            <a:ln w="25400">
              <a:solidFill>
                <a:schemeClr val="bg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E454ECCB-1268-740B-6DE1-F1FAED6C2189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3339570"/>
              <a:ext cx="3600" cy="503999"/>
            </a:xfrm>
            <a:prstGeom prst="line">
              <a:avLst/>
            </a:prstGeom>
            <a:ln w="25400">
              <a:solidFill>
                <a:schemeClr val="bg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9A2BCA9-4785-CE92-23AF-F5B7EC18642B}"/>
              </a:ext>
            </a:extLst>
          </p:cNvPr>
          <p:cNvSpPr txBox="1"/>
          <p:nvPr/>
        </p:nvSpPr>
        <p:spPr>
          <a:xfrm>
            <a:off x="6957665" y="1302866"/>
            <a:ext cx="2396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/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/home </a:t>
            </a:r>
            <a:r>
              <a:rPr kumimoji="1" lang="ja-JP" altLang="en-US"/>
              <a:t>または</a:t>
            </a:r>
            <a:r>
              <a:rPr kumimoji="1" lang="en-US" altLang="ja-JP" dirty="0"/>
              <a:t>/Users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0CD35DC-A00F-8CCA-B053-75A0F9CCE308}"/>
              </a:ext>
            </a:extLst>
          </p:cNvPr>
          <p:cNvSpPr txBox="1"/>
          <p:nvPr/>
        </p:nvSpPr>
        <p:spPr>
          <a:xfrm>
            <a:off x="6957665" y="2806853"/>
            <a:ext cx="45496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/home/taro</a:t>
            </a:r>
          </a:p>
          <a:p>
            <a:r>
              <a:rPr kumimoji="1" lang="ja-JP" altLang="en-US"/>
              <a:t>または</a:t>
            </a:r>
            <a:r>
              <a:rPr kumimoji="1" lang="en-US" altLang="ja-JP" dirty="0"/>
              <a:t>/User/taro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/home/taro/practice</a:t>
            </a:r>
          </a:p>
          <a:p>
            <a:r>
              <a:rPr kumimoji="1" lang="ja-JP" altLang="en-US"/>
              <a:t>または</a:t>
            </a:r>
            <a:r>
              <a:rPr kumimoji="1" lang="en-US" altLang="ja-JP" dirty="0"/>
              <a:t>/Users/taro/practice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/home/taro/practice/</a:t>
            </a:r>
            <a:r>
              <a:rPr kumimoji="1" lang="en-US" altLang="ja-JP" dirty="0" err="1"/>
              <a:t>info.txt</a:t>
            </a:r>
            <a:endParaRPr kumimoji="1" lang="en-US" altLang="ja-JP" dirty="0"/>
          </a:p>
          <a:p>
            <a:r>
              <a:rPr kumimoji="1" lang="ja-JP" altLang="en-US"/>
              <a:t>または</a:t>
            </a:r>
            <a:r>
              <a:rPr kumimoji="1" lang="en-US" altLang="ja-JP" dirty="0"/>
              <a:t>/Users/taro/practice/</a:t>
            </a:r>
            <a:r>
              <a:rPr kumimoji="1" lang="en-US" altLang="ja-JP" dirty="0" err="1"/>
              <a:t>info.txt</a:t>
            </a:r>
            <a:endParaRPr kumimoji="1" lang="en-US" altLang="ja-JP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CD1D19-6DD4-27BE-8759-BED12F446B74}"/>
              </a:ext>
            </a:extLst>
          </p:cNvPr>
          <p:cNvSpPr txBox="1"/>
          <p:nvPr/>
        </p:nvSpPr>
        <p:spPr>
          <a:xfrm>
            <a:off x="407908" y="3644841"/>
            <a:ext cx="3283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dirty="0"/>
              <a:t>/home/taro/</a:t>
            </a:r>
            <a:r>
              <a:rPr kumimoji="1" lang="en-US" altLang="ja-JP" dirty="0" err="1"/>
              <a:t>ima.txt</a:t>
            </a:r>
            <a:endParaRPr kumimoji="1" lang="en-US" altLang="ja-JP" dirty="0"/>
          </a:p>
          <a:p>
            <a:pPr algn="r"/>
            <a:r>
              <a:rPr kumimoji="1" lang="ja-JP" altLang="en-US"/>
              <a:t>または</a:t>
            </a:r>
            <a:r>
              <a:rPr kumimoji="1" lang="en-US" altLang="ja-JP" dirty="0"/>
              <a:t>/Users/taro/</a:t>
            </a:r>
            <a:r>
              <a:rPr kumimoji="1" lang="en-US" altLang="ja-JP" dirty="0" err="1"/>
              <a:t>ima.txt</a:t>
            </a:r>
            <a:endParaRPr kumimoji="1" lang="en-US" altLang="ja-JP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6BE632E-8571-0695-D757-4750677927D3}"/>
              </a:ext>
            </a:extLst>
          </p:cNvPr>
          <p:cNvSpPr/>
          <p:nvPr/>
        </p:nvSpPr>
        <p:spPr>
          <a:xfrm>
            <a:off x="6938371" y="4416759"/>
            <a:ext cx="4568937" cy="7196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C83484A-5A5E-E6C5-5E90-B0C682EF0C9B}"/>
              </a:ext>
            </a:extLst>
          </p:cNvPr>
          <p:cNvSpPr/>
          <p:nvPr/>
        </p:nvSpPr>
        <p:spPr>
          <a:xfrm>
            <a:off x="6938369" y="1294895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D93FDCA-DB01-A9D2-C6D4-0E453D3704AA}"/>
              </a:ext>
            </a:extLst>
          </p:cNvPr>
          <p:cNvSpPr/>
          <p:nvPr/>
        </p:nvSpPr>
        <p:spPr>
          <a:xfrm>
            <a:off x="6938370" y="2107548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19113FF-4B01-1549-3D6E-4D4BAF1CE42F}"/>
              </a:ext>
            </a:extLst>
          </p:cNvPr>
          <p:cNvSpPr/>
          <p:nvPr/>
        </p:nvSpPr>
        <p:spPr>
          <a:xfrm>
            <a:off x="6938369" y="3589852"/>
            <a:ext cx="4568937" cy="7196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66E5029-6AF9-D53A-2303-0934423ACB01}"/>
              </a:ext>
            </a:extLst>
          </p:cNvPr>
          <p:cNvSpPr/>
          <p:nvPr/>
        </p:nvSpPr>
        <p:spPr>
          <a:xfrm>
            <a:off x="6948017" y="2762945"/>
            <a:ext cx="4568937" cy="7196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B628BBC-D516-F28C-565B-B03D466FF03A}"/>
              </a:ext>
            </a:extLst>
          </p:cNvPr>
          <p:cNvSpPr/>
          <p:nvPr/>
        </p:nvSpPr>
        <p:spPr>
          <a:xfrm>
            <a:off x="297712" y="3616961"/>
            <a:ext cx="3393467" cy="7196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FE054CA-1CFC-5626-D63D-B6955C608358}"/>
              </a:ext>
            </a:extLst>
          </p:cNvPr>
          <p:cNvSpPr txBox="1"/>
          <p:nvPr/>
        </p:nvSpPr>
        <p:spPr>
          <a:xfrm>
            <a:off x="297712" y="412387"/>
            <a:ext cx="622478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/>
              <a:t>絶対パス</a:t>
            </a:r>
            <a:r>
              <a:rPr kumimoji="1" lang="en-US" altLang="ja-JP" sz="3200" b="1" dirty="0"/>
              <a:t>: </a:t>
            </a:r>
            <a:r>
              <a:rPr kumimoji="1" lang="ja-JP" altLang="en-US"/>
              <a:t>最初が「</a:t>
            </a:r>
            <a:r>
              <a:rPr kumimoji="1" lang="en-US" altLang="ja-JP" dirty="0"/>
              <a:t>/</a:t>
            </a:r>
            <a:r>
              <a:rPr kumimoji="1" lang="ja-JP" altLang="en-US"/>
              <a:t>」。「</a:t>
            </a:r>
            <a:r>
              <a:rPr kumimoji="1" lang="en-US" altLang="ja-JP" dirty="0"/>
              <a:t>/</a:t>
            </a:r>
            <a:r>
              <a:rPr kumimoji="1" lang="ja-JP" altLang="en-US"/>
              <a:t>」から順番に辿る。</a:t>
            </a:r>
            <a:endParaRPr kumimoji="1" lang="en-US" altLang="ja-JP" dirty="0"/>
          </a:p>
          <a:p>
            <a:r>
              <a:rPr kumimoji="1" lang="ja-JP" altLang="en-US"/>
              <a:t>　　　　　　　　　どこにいても変わらない</a:t>
            </a: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111BE3-B3A2-BE14-95B7-0073FFBD1F60}"/>
              </a:ext>
            </a:extLst>
          </p:cNvPr>
          <p:cNvSpPr txBox="1"/>
          <p:nvPr/>
        </p:nvSpPr>
        <p:spPr>
          <a:xfrm>
            <a:off x="290132" y="6445613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absolutepath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60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0D0F6-98BC-7DE6-A54A-7AC71EEF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9BE1DDD-7C5F-79AD-6842-05532F4560DB}"/>
              </a:ext>
            </a:extLst>
          </p:cNvPr>
          <p:cNvGrpSpPr/>
          <p:nvPr/>
        </p:nvGrpSpPr>
        <p:grpSpPr>
          <a:xfrm>
            <a:off x="2740672" y="1997247"/>
            <a:ext cx="3139791" cy="3738966"/>
            <a:chOff x="316448" y="512014"/>
            <a:chExt cx="3139791" cy="3738966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8F3476F-2B81-5B38-853A-21C76410FAB9}"/>
                </a:ext>
              </a:extLst>
            </p:cNvPr>
            <p:cNvSpPr txBox="1">
              <a:spLocks/>
            </p:cNvSpPr>
            <p:nvPr/>
          </p:nvSpPr>
          <p:spPr>
            <a:xfrm>
              <a:off x="738828" y="557661"/>
              <a:ext cx="2717411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/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home, Users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taro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 err="1"/>
                <a:t>ima.txt</a:t>
              </a:r>
              <a:r>
                <a:rPr kumimoji="1" lang="en-US" altLang="ja-JP" dirty="0"/>
                <a:t>     practice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            </a:t>
              </a:r>
              <a:r>
                <a:rPr kumimoji="1" lang="en-US" altLang="ja-JP" dirty="0" err="1"/>
                <a:t>info.txt</a:t>
              </a:r>
              <a:endParaRPr kumimoji="1" lang="en-US" altLang="ja-JP" dirty="0"/>
            </a:p>
          </p:txBody>
        </p: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FF00F8C2-A832-83AF-B6D5-9EFB1DB1AE35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2842327"/>
              <a:ext cx="3600" cy="251999"/>
            </a:xfrm>
            <a:prstGeom prst="line">
              <a:avLst/>
            </a:prstGeom>
            <a:ln w="25400">
              <a:solidFill>
                <a:schemeClr val="bg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2BC19EFD-35DD-6EE1-D757-6870735EE9A9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847805"/>
              <a:ext cx="1478813" cy="0"/>
            </a:xfrm>
            <a:prstGeom prst="line">
              <a:avLst/>
            </a:prstGeom>
            <a:ln w="254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1FE5FA7E-51D3-128C-1C99-EAF8C042F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1359500"/>
              <a:ext cx="457200" cy="457200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C027E8F-6A57-57B6-D400-A3DD675D2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2183512"/>
              <a:ext cx="457200" cy="45720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FBA55371-DF02-12DF-0FDB-189B1BB3F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8" y="2996089"/>
              <a:ext cx="457200" cy="4572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D1885792-F5DA-E4F7-5E2C-29DA009BF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6918" y="2978959"/>
              <a:ext cx="457200" cy="457200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B5943E0-6AD4-FE64-0B72-C4F98535A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6918" y="3774855"/>
              <a:ext cx="457200" cy="457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5928ABC3-0A81-92BB-3AC7-24221EA40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448" y="512014"/>
              <a:ext cx="457200" cy="457200"/>
            </a:xfrm>
            <a:prstGeom prst="rect">
              <a:avLst/>
            </a:prstGeom>
          </p:spPr>
        </p:pic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B9A87609-C53F-9DDF-19AA-851C16EE493C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7" y="1718528"/>
              <a:ext cx="3600" cy="576000"/>
            </a:xfrm>
            <a:prstGeom prst="line">
              <a:avLst/>
            </a:prstGeom>
            <a:ln w="25400">
              <a:solidFill>
                <a:schemeClr val="bg2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6B0E8CC5-D93E-62DC-37C3-6CC9D8832D35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538415"/>
              <a:ext cx="3600" cy="503999"/>
            </a:xfrm>
            <a:prstGeom prst="line">
              <a:avLst/>
            </a:prstGeom>
            <a:ln w="25400">
              <a:solidFill>
                <a:schemeClr val="bg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EDA5C0B6-7EB3-71A1-D213-DC6230B14FE4}"/>
                </a:ext>
              </a:extLst>
            </p:cNvPr>
            <p:cNvCxnSpPr>
              <a:cxnSpLocks/>
            </p:cNvCxnSpPr>
            <p:nvPr/>
          </p:nvCxnSpPr>
          <p:spPr>
            <a:xfrm>
              <a:off x="538188" y="892436"/>
              <a:ext cx="3600" cy="576000"/>
            </a:xfrm>
            <a:prstGeom prst="line">
              <a:avLst/>
            </a:prstGeom>
            <a:ln w="25400">
              <a:solidFill>
                <a:schemeClr val="bg2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D2DC8A0F-4614-9514-22C2-B983363DC4C8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3339570"/>
              <a:ext cx="3600" cy="503999"/>
            </a:xfrm>
            <a:prstGeom prst="line">
              <a:avLst/>
            </a:prstGeom>
            <a:ln w="25400">
              <a:solidFill>
                <a:schemeClr val="bg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93AEE61-799C-0180-E052-81B815421F5E}"/>
              </a:ext>
            </a:extLst>
          </p:cNvPr>
          <p:cNvSpPr txBox="1"/>
          <p:nvPr/>
        </p:nvSpPr>
        <p:spPr>
          <a:xfrm>
            <a:off x="6094839" y="2018786"/>
            <a:ext cx="233749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../..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..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.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practice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practice/</a:t>
            </a:r>
            <a:r>
              <a:rPr kumimoji="1" lang="en-US" altLang="ja-JP" dirty="0" err="1"/>
              <a:t>info.txt</a:t>
            </a:r>
            <a:endParaRPr kumimoji="1" lang="en-US" altLang="ja-JP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EAA2268-DE75-3620-2B3B-A1379B11BC45}"/>
              </a:ext>
            </a:extLst>
          </p:cNvPr>
          <p:cNvSpPr txBox="1"/>
          <p:nvPr/>
        </p:nvSpPr>
        <p:spPr>
          <a:xfrm>
            <a:off x="1652489" y="451553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dirty="0" err="1"/>
              <a:t>ima.txt</a:t>
            </a:r>
            <a:endParaRPr kumimoji="1" lang="en-US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5A43DA-DCFE-E725-F37B-3DC9F6F8DD65}"/>
              </a:ext>
            </a:extLst>
          </p:cNvPr>
          <p:cNvSpPr/>
          <p:nvPr/>
        </p:nvSpPr>
        <p:spPr>
          <a:xfrm>
            <a:off x="2715505" y="3683145"/>
            <a:ext cx="503633" cy="420627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A7C6C26-3296-6D16-EB94-61C66E2F837A}"/>
              </a:ext>
            </a:extLst>
          </p:cNvPr>
          <p:cNvSpPr/>
          <p:nvPr/>
        </p:nvSpPr>
        <p:spPr>
          <a:xfrm>
            <a:off x="6094838" y="5298477"/>
            <a:ext cx="2337499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30A0E9-4E99-0FDE-CF2D-0776FA53D70E}"/>
              </a:ext>
            </a:extLst>
          </p:cNvPr>
          <p:cNvSpPr/>
          <p:nvPr/>
        </p:nvSpPr>
        <p:spPr>
          <a:xfrm>
            <a:off x="6073210" y="4481322"/>
            <a:ext cx="2337499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D5251BB-DF97-BDE1-B644-3D627E53DF8A}"/>
              </a:ext>
            </a:extLst>
          </p:cNvPr>
          <p:cNvSpPr/>
          <p:nvPr/>
        </p:nvSpPr>
        <p:spPr>
          <a:xfrm>
            <a:off x="6093324" y="3664167"/>
            <a:ext cx="2337499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1EF2F21-BF58-41DC-C6BC-31F688D20ED3}"/>
              </a:ext>
            </a:extLst>
          </p:cNvPr>
          <p:cNvSpPr/>
          <p:nvPr/>
        </p:nvSpPr>
        <p:spPr>
          <a:xfrm>
            <a:off x="6061954" y="2847012"/>
            <a:ext cx="2337499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C75633E-CC14-FCFC-D727-3CE9E53816F9}"/>
              </a:ext>
            </a:extLst>
          </p:cNvPr>
          <p:cNvSpPr/>
          <p:nvPr/>
        </p:nvSpPr>
        <p:spPr>
          <a:xfrm>
            <a:off x="6061953" y="2029857"/>
            <a:ext cx="2337499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7750AF3-023B-9B0C-4265-E322878BF501}"/>
              </a:ext>
            </a:extLst>
          </p:cNvPr>
          <p:cNvSpPr/>
          <p:nvPr/>
        </p:nvSpPr>
        <p:spPr>
          <a:xfrm>
            <a:off x="1609546" y="4509987"/>
            <a:ext cx="1105959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F55FBF5-8E5A-7386-2F2B-4C3F2F6B8702}"/>
              </a:ext>
            </a:extLst>
          </p:cNvPr>
          <p:cNvSpPr txBox="1"/>
          <p:nvPr/>
        </p:nvSpPr>
        <p:spPr>
          <a:xfrm>
            <a:off x="1331625" y="369619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bg2"/>
                </a:solidFill>
              </a:rPr>
              <a:t>ここにいる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29D7B2E-28B4-CB5E-37E6-8DA0E4E6B98F}"/>
              </a:ext>
            </a:extLst>
          </p:cNvPr>
          <p:cNvSpPr txBox="1"/>
          <p:nvPr/>
        </p:nvSpPr>
        <p:spPr>
          <a:xfrm>
            <a:off x="1331625" y="377496"/>
            <a:ext cx="746710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/>
              <a:t>相対パス</a:t>
            </a:r>
            <a:r>
              <a:rPr kumimoji="1" lang="en-US" altLang="ja-JP" sz="3200" b="1" dirty="0"/>
              <a:t>:</a:t>
            </a:r>
            <a:r>
              <a:rPr kumimoji="1" lang="ja-JP" altLang="en-US"/>
              <a:t>現在いる場所から辿る。</a:t>
            </a:r>
            <a:endParaRPr kumimoji="1" lang="en-US" altLang="ja-JP" dirty="0"/>
          </a:p>
          <a:p>
            <a:r>
              <a:rPr kumimoji="1" lang="ja-JP" altLang="en-US"/>
              <a:t>　　　　　　　　最初が「</a:t>
            </a:r>
            <a:r>
              <a:rPr kumimoji="1" lang="en-US" altLang="ja-JP" dirty="0"/>
              <a:t>/</a:t>
            </a:r>
            <a:r>
              <a:rPr kumimoji="1" lang="ja-JP" altLang="en-US"/>
              <a:t>」ではない。現在いる場所によって変わる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7234F56-B5C5-D76B-7231-894F8AAD6DC2}"/>
              </a:ext>
            </a:extLst>
          </p:cNvPr>
          <p:cNvSpPr txBox="1"/>
          <p:nvPr/>
        </p:nvSpPr>
        <p:spPr>
          <a:xfrm>
            <a:off x="2977961" y="1387553"/>
            <a:ext cx="448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</a:t>
            </a:r>
            <a:r>
              <a:rPr kumimoji="1" lang="en-US" altLang="ja-JP" dirty="0"/>
              <a:t>.</a:t>
            </a:r>
            <a:r>
              <a:rPr kumimoji="1" lang="ja-JP" altLang="en-US"/>
              <a:t>」現在いる場所、「</a:t>
            </a:r>
            <a:r>
              <a:rPr kumimoji="1" lang="en-US" altLang="ja-JP" dirty="0"/>
              <a:t>..</a:t>
            </a:r>
            <a:r>
              <a:rPr kumimoji="1" lang="ja-JP" altLang="en-US"/>
              <a:t>」一つ上を表す</a:t>
            </a:r>
          </a:p>
        </p:txBody>
      </p:sp>
    </p:spTree>
    <p:extLst>
      <p:ext uri="{BB962C8B-B14F-4D97-AF65-F5344CB8AC3E}">
        <p14:creationId xmlns:p14="http://schemas.microsoft.com/office/powerpoint/2010/main" val="138032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3174-5272-E079-5985-4351D299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9962C5D-3F5B-EDC7-7E7A-571B5C450449}"/>
              </a:ext>
            </a:extLst>
          </p:cNvPr>
          <p:cNvGrpSpPr/>
          <p:nvPr/>
        </p:nvGrpSpPr>
        <p:grpSpPr>
          <a:xfrm>
            <a:off x="2740672" y="1286047"/>
            <a:ext cx="2000056" cy="2941275"/>
            <a:chOff x="316448" y="512014"/>
            <a:chExt cx="2000056" cy="2941275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3C158B9-24BF-BD5E-C7BA-326E1EB03D0A}"/>
                </a:ext>
              </a:extLst>
            </p:cNvPr>
            <p:cNvSpPr txBox="1">
              <a:spLocks/>
            </p:cNvSpPr>
            <p:nvPr/>
          </p:nvSpPr>
          <p:spPr>
            <a:xfrm>
              <a:off x="738828" y="557661"/>
              <a:ext cx="157767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/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home, Users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taro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practice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F2BDADF5-ACCA-782F-472D-29A8E9EB8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1359500"/>
              <a:ext cx="457200" cy="457200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E254B506-8D1D-8F51-801C-17065C237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2183512"/>
              <a:ext cx="457200" cy="45720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D1EE199-383E-B41F-1050-704424C43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8" y="2996089"/>
              <a:ext cx="457200" cy="457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EAEAC019-BEC7-8155-597C-BC441A2A5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448" y="512014"/>
              <a:ext cx="457200" cy="457200"/>
            </a:xfrm>
            <a:prstGeom prst="rect">
              <a:avLst/>
            </a:prstGeom>
          </p:spPr>
        </p:pic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7013702-D31A-2070-4C91-F440B34C7C6B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7" y="1718528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8EF6A45-C87B-9B73-3D03-8682CD3C459F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538415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61BE4223-585F-F235-F073-31DE0AB976B4}"/>
                </a:ext>
              </a:extLst>
            </p:cNvPr>
            <p:cNvCxnSpPr>
              <a:cxnSpLocks/>
            </p:cNvCxnSpPr>
            <p:nvPr/>
          </p:nvCxnSpPr>
          <p:spPr>
            <a:xfrm>
              <a:off x="538188" y="892436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42996FB-3218-DDE0-B71F-16F008EC81D8}"/>
              </a:ext>
            </a:extLst>
          </p:cNvPr>
          <p:cNvSpPr txBox="1"/>
          <p:nvPr/>
        </p:nvSpPr>
        <p:spPr>
          <a:xfrm>
            <a:off x="1953403" y="4410816"/>
            <a:ext cx="581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practice</a:t>
            </a:r>
            <a:r>
              <a:rPr kumimoji="1" lang="ja-JP" altLang="en-US"/>
              <a:t>がファイルでもディレクトリでもパスは同じ</a:t>
            </a:r>
            <a:endParaRPr kumimoji="1" lang="en-US" altLang="ja-JP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87DAC28-5EE2-E5A5-3B05-6EC244338DF4}"/>
              </a:ext>
            </a:extLst>
          </p:cNvPr>
          <p:cNvGrpSpPr/>
          <p:nvPr/>
        </p:nvGrpSpPr>
        <p:grpSpPr>
          <a:xfrm>
            <a:off x="4960921" y="1278303"/>
            <a:ext cx="2000056" cy="2907969"/>
            <a:chOff x="316448" y="512014"/>
            <a:chExt cx="2000056" cy="2907969"/>
          </a:xfrm>
        </p:grpSpPr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58B2F9A3-BC5D-1B4C-1FCF-94D5351594AE}"/>
                </a:ext>
              </a:extLst>
            </p:cNvPr>
            <p:cNvSpPr txBox="1">
              <a:spLocks/>
            </p:cNvSpPr>
            <p:nvPr/>
          </p:nvSpPr>
          <p:spPr>
            <a:xfrm>
              <a:off x="738828" y="557661"/>
              <a:ext cx="157767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/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home, Users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taro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practice</a:t>
              </a:r>
            </a:p>
          </p:txBody>
        </p:sp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3D413D23-AECD-6FCD-456B-EB39881EE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1359500"/>
              <a:ext cx="457200" cy="457200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566F3634-EE1A-0EA2-5A5A-C3CDEA53D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2183512"/>
              <a:ext cx="457200" cy="457200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3255BAFA-3805-3CBF-08F3-A70C42B11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448" y="512014"/>
              <a:ext cx="457200" cy="457200"/>
            </a:xfrm>
            <a:prstGeom prst="rect">
              <a:avLst/>
            </a:prstGeom>
          </p:spPr>
        </p:pic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91F21B99-C8EE-37A0-CCD6-1DE5FCBC71C6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7" y="1718528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679E4AE0-9BB1-26EF-3A2D-4F407C164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838" y="2538415"/>
              <a:ext cx="0" cy="6290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CF2473DE-0CAC-9F7B-74AD-80F77705AB86}"/>
                </a:ext>
              </a:extLst>
            </p:cNvPr>
            <p:cNvCxnSpPr>
              <a:cxnSpLocks/>
            </p:cNvCxnSpPr>
            <p:nvPr/>
          </p:nvCxnSpPr>
          <p:spPr>
            <a:xfrm>
              <a:off x="538188" y="892436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図 33">
            <a:extLst>
              <a:ext uri="{FF2B5EF4-FFF2-40B4-BE49-F238E27FC236}">
                <a16:creationId xmlns:a16="http://schemas.microsoft.com/office/drawing/2014/main" id="{0789073B-6524-0925-321F-2BFD9FD34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921" y="3777523"/>
            <a:ext cx="457200" cy="457200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6CF3AAA-81DE-B3CC-271C-2730BF70469B}"/>
              </a:ext>
            </a:extLst>
          </p:cNvPr>
          <p:cNvSpPr txBox="1"/>
          <p:nvPr/>
        </p:nvSpPr>
        <p:spPr>
          <a:xfrm>
            <a:off x="1951799" y="4717886"/>
            <a:ext cx="5816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/home/taro/</a:t>
            </a:r>
            <a:r>
              <a:rPr kumimoji="1" lang="en-US" altLang="ja-JP" dirty="0" err="1"/>
              <a:t>pratice</a:t>
            </a:r>
            <a:r>
              <a:rPr kumimoji="1" lang="en-US" altLang="ja-JP" dirty="0"/>
              <a:t> </a:t>
            </a:r>
            <a:r>
              <a:rPr kumimoji="1" lang="ja-JP" altLang="en-US"/>
              <a:t>または</a:t>
            </a:r>
            <a:r>
              <a:rPr kumimoji="1" lang="en-US" altLang="ja-JP" dirty="0"/>
              <a:t> /Users/taro/</a:t>
            </a:r>
            <a:r>
              <a:rPr kumimoji="1" lang="en-US" altLang="ja-JP" dirty="0" err="1"/>
              <a:t>pratice</a:t>
            </a:r>
            <a:endParaRPr kumimoji="1" lang="en-US" altLang="ja-JP" dirty="0"/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F374EEF1-0DFC-0BC4-F865-8C573E3EE932}"/>
              </a:ext>
            </a:extLst>
          </p:cNvPr>
          <p:cNvSpPr/>
          <p:nvPr/>
        </p:nvSpPr>
        <p:spPr>
          <a:xfrm>
            <a:off x="2718552" y="3769648"/>
            <a:ext cx="495300" cy="4826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BFAC5F45-B019-E4FC-B18C-5F0D160B1E46}"/>
              </a:ext>
            </a:extLst>
          </p:cNvPr>
          <p:cNvSpPr/>
          <p:nvPr/>
        </p:nvSpPr>
        <p:spPr>
          <a:xfrm>
            <a:off x="4941052" y="3782348"/>
            <a:ext cx="495300" cy="4826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9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EF2DB-815A-09C7-2F84-E2A3AD548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B55DDD7-837E-8A2E-FC33-391D86123D7F}"/>
              </a:ext>
            </a:extLst>
          </p:cNvPr>
          <p:cNvGrpSpPr/>
          <p:nvPr/>
        </p:nvGrpSpPr>
        <p:grpSpPr>
          <a:xfrm>
            <a:off x="2314483" y="1853116"/>
            <a:ext cx="3139791" cy="3738966"/>
            <a:chOff x="316448" y="512014"/>
            <a:chExt cx="3139791" cy="3738966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51CF6CC-FEBD-D620-C25B-44EDA639F59D}"/>
                </a:ext>
              </a:extLst>
            </p:cNvPr>
            <p:cNvSpPr txBox="1">
              <a:spLocks/>
            </p:cNvSpPr>
            <p:nvPr/>
          </p:nvSpPr>
          <p:spPr>
            <a:xfrm>
              <a:off x="738828" y="557661"/>
              <a:ext cx="2717411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/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home, Users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taro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 err="1"/>
                <a:t>ima.txt</a:t>
              </a:r>
              <a:r>
                <a:rPr kumimoji="1" lang="en-US" altLang="ja-JP" dirty="0"/>
                <a:t>     practice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            </a:t>
              </a:r>
              <a:r>
                <a:rPr kumimoji="1" lang="en-US" altLang="ja-JP" dirty="0" err="1"/>
                <a:t>info.txt</a:t>
              </a:r>
              <a:endParaRPr kumimoji="1" lang="en-US" altLang="ja-JP" dirty="0"/>
            </a:p>
          </p:txBody>
        </p: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C9ACFB27-2B68-66BE-90AA-EBCA36A91741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2852959"/>
              <a:ext cx="3600" cy="251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57AEF76D-4603-9E20-4A1E-69B6770F3150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847805"/>
              <a:ext cx="14788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FBDC9CEB-DE2C-8670-9B64-5AC996BB1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1359500"/>
              <a:ext cx="457200" cy="457200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A8E1A3E0-6AEF-A646-A7D1-126A248AA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2183512"/>
              <a:ext cx="457200" cy="45720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010E174-148E-488E-4EA2-317206C7E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8" y="2996089"/>
              <a:ext cx="457200" cy="4572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9F215CF5-AE22-9612-26A3-0E2BCC9AB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6918" y="2978959"/>
              <a:ext cx="457200" cy="457200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4FD3779-7031-DCCB-4175-3AACE6EF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6918" y="3774855"/>
              <a:ext cx="457200" cy="457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08BFD7F2-3F92-5247-6B8F-AAA02356A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448" y="512014"/>
              <a:ext cx="457200" cy="457200"/>
            </a:xfrm>
            <a:prstGeom prst="rect">
              <a:avLst/>
            </a:prstGeom>
          </p:spPr>
        </p:pic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96E58C7D-376E-AA40-7559-C22D64F82B6F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7" y="1718528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9FA87FB2-E43A-3D1D-BF85-43A318DAEBB4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538415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97C3723-92AF-6DD7-5E32-B5F5470290FE}"/>
                </a:ext>
              </a:extLst>
            </p:cNvPr>
            <p:cNvCxnSpPr>
              <a:cxnSpLocks/>
            </p:cNvCxnSpPr>
            <p:nvPr/>
          </p:nvCxnSpPr>
          <p:spPr>
            <a:xfrm>
              <a:off x="538188" y="892436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1E054C60-7162-F163-B139-E33E3DBA7829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3339570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DD5D32-8D05-B9E9-D12D-7C88109D97BD}"/>
              </a:ext>
            </a:extLst>
          </p:cNvPr>
          <p:cNvSpPr txBox="1"/>
          <p:nvPr/>
        </p:nvSpPr>
        <p:spPr>
          <a:xfrm>
            <a:off x="5668650" y="1874655"/>
            <a:ext cx="297068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..</a:t>
            </a:r>
            <a:br>
              <a:rPr kumimoji="1" lang="en-US" altLang="ja-JP" dirty="0"/>
            </a:b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.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taro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taro/practice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taro/practice/</a:t>
            </a:r>
            <a:r>
              <a:rPr kumimoji="1" lang="en-US" altLang="ja-JP" dirty="0" err="1"/>
              <a:t>info.txt</a:t>
            </a:r>
            <a:endParaRPr kumimoji="1" lang="en-US" altLang="ja-JP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924EBA5-580C-0D71-A28C-AB3070DE87C0}"/>
              </a:ext>
            </a:extLst>
          </p:cNvPr>
          <p:cNvSpPr txBox="1"/>
          <p:nvPr/>
        </p:nvSpPr>
        <p:spPr>
          <a:xfrm>
            <a:off x="593114" y="4371401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dirty="0"/>
              <a:t>taro/</a:t>
            </a:r>
            <a:r>
              <a:rPr kumimoji="1" lang="en-US" altLang="ja-JP" dirty="0" err="1"/>
              <a:t>ima.txt</a:t>
            </a:r>
            <a:endParaRPr kumimoji="1" lang="en-US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37D856-12BF-7785-978E-363AFB2D5B60}"/>
              </a:ext>
            </a:extLst>
          </p:cNvPr>
          <p:cNvSpPr/>
          <p:nvPr/>
        </p:nvSpPr>
        <p:spPr>
          <a:xfrm>
            <a:off x="2293450" y="2710268"/>
            <a:ext cx="503633" cy="420627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004807-E07E-7007-57DB-639ECBF19C70}"/>
              </a:ext>
            </a:extLst>
          </p:cNvPr>
          <p:cNvSpPr/>
          <p:nvPr/>
        </p:nvSpPr>
        <p:spPr>
          <a:xfrm>
            <a:off x="5668649" y="5154346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727C89D-A46F-BFD4-9478-DD0B2772C62A}"/>
              </a:ext>
            </a:extLst>
          </p:cNvPr>
          <p:cNvSpPr/>
          <p:nvPr/>
        </p:nvSpPr>
        <p:spPr>
          <a:xfrm>
            <a:off x="5668649" y="4337191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73AF7F2-C9AC-6732-FC08-1D08E3FAAC06}"/>
              </a:ext>
            </a:extLst>
          </p:cNvPr>
          <p:cNvSpPr/>
          <p:nvPr/>
        </p:nvSpPr>
        <p:spPr>
          <a:xfrm>
            <a:off x="5668649" y="3520036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A3E05F5-F766-C6C3-BF62-EB0B4574B557}"/>
              </a:ext>
            </a:extLst>
          </p:cNvPr>
          <p:cNvSpPr/>
          <p:nvPr/>
        </p:nvSpPr>
        <p:spPr>
          <a:xfrm>
            <a:off x="5635765" y="2679208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2DCEBA0-D3D1-3643-F0AD-91C838EE7404}"/>
              </a:ext>
            </a:extLst>
          </p:cNvPr>
          <p:cNvSpPr/>
          <p:nvPr/>
        </p:nvSpPr>
        <p:spPr>
          <a:xfrm>
            <a:off x="5635765" y="1874655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ACEEA29-EB22-BF10-185C-73D9D7A4E8CD}"/>
              </a:ext>
            </a:extLst>
          </p:cNvPr>
          <p:cNvSpPr/>
          <p:nvPr/>
        </p:nvSpPr>
        <p:spPr>
          <a:xfrm>
            <a:off x="492264" y="4382659"/>
            <a:ext cx="1822220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6A17660-7802-7E46-D276-9032DFD129CA}"/>
              </a:ext>
            </a:extLst>
          </p:cNvPr>
          <p:cNvSpPr txBox="1"/>
          <p:nvPr/>
        </p:nvSpPr>
        <p:spPr>
          <a:xfrm>
            <a:off x="852173" y="278847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bg2"/>
                </a:solidFill>
              </a:rPr>
              <a:t>ここにいる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DDA2303-383C-672B-B9C7-E17FD6138285}"/>
              </a:ext>
            </a:extLst>
          </p:cNvPr>
          <p:cNvSpPr txBox="1"/>
          <p:nvPr/>
        </p:nvSpPr>
        <p:spPr>
          <a:xfrm>
            <a:off x="937925" y="377496"/>
            <a:ext cx="746710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/>
              <a:t>相対パス</a:t>
            </a:r>
            <a:r>
              <a:rPr kumimoji="1" lang="en-US" altLang="ja-JP" sz="3200" b="1" dirty="0"/>
              <a:t>:</a:t>
            </a:r>
            <a:r>
              <a:rPr kumimoji="1" lang="ja-JP" altLang="en-US"/>
              <a:t>現在いる場所から辿る。</a:t>
            </a:r>
            <a:endParaRPr kumimoji="1" lang="en-US" altLang="ja-JP" dirty="0"/>
          </a:p>
          <a:p>
            <a:r>
              <a:rPr kumimoji="1" lang="ja-JP" altLang="en-US"/>
              <a:t>　　　　　　　　最初が「</a:t>
            </a:r>
            <a:r>
              <a:rPr kumimoji="1" lang="en-US" altLang="ja-JP" dirty="0"/>
              <a:t>/</a:t>
            </a:r>
            <a:r>
              <a:rPr kumimoji="1" lang="ja-JP" altLang="en-US"/>
              <a:t>」ではない。現在いる場所によって変わる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104B24F-7666-AE43-EABE-018D7EB39CCE}"/>
              </a:ext>
            </a:extLst>
          </p:cNvPr>
          <p:cNvSpPr txBox="1"/>
          <p:nvPr/>
        </p:nvSpPr>
        <p:spPr>
          <a:xfrm>
            <a:off x="2650523" y="1316205"/>
            <a:ext cx="448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</a:t>
            </a:r>
            <a:r>
              <a:rPr kumimoji="1" lang="en-US" altLang="ja-JP" dirty="0"/>
              <a:t>.</a:t>
            </a:r>
            <a:r>
              <a:rPr kumimoji="1" lang="ja-JP" altLang="en-US"/>
              <a:t>」現在いる場所、「</a:t>
            </a:r>
            <a:r>
              <a:rPr kumimoji="1" lang="en-US" altLang="ja-JP" dirty="0"/>
              <a:t>..</a:t>
            </a:r>
            <a:r>
              <a:rPr kumimoji="1" lang="ja-JP" altLang="en-US"/>
              <a:t>」一つ上を表す</a:t>
            </a:r>
          </a:p>
        </p:txBody>
      </p:sp>
    </p:spTree>
    <p:extLst>
      <p:ext uri="{BB962C8B-B14F-4D97-AF65-F5344CB8AC3E}">
        <p14:creationId xmlns:p14="http://schemas.microsoft.com/office/powerpoint/2010/main" val="680776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0FBA-224D-D902-05E4-E2799405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3792C74-CD9D-B3D2-175F-19120FD17F3E}"/>
              </a:ext>
            </a:extLst>
          </p:cNvPr>
          <p:cNvGrpSpPr/>
          <p:nvPr/>
        </p:nvGrpSpPr>
        <p:grpSpPr>
          <a:xfrm>
            <a:off x="2314483" y="1853116"/>
            <a:ext cx="3139791" cy="3738966"/>
            <a:chOff x="316448" y="512014"/>
            <a:chExt cx="3139791" cy="3738966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94FBCB7-4A61-5847-A211-421FD4267897}"/>
                </a:ext>
              </a:extLst>
            </p:cNvPr>
            <p:cNvSpPr txBox="1">
              <a:spLocks/>
            </p:cNvSpPr>
            <p:nvPr/>
          </p:nvSpPr>
          <p:spPr>
            <a:xfrm>
              <a:off x="738828" y="557661"/>
              <a:ext cx="2717411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/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home, Users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taro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 err="1"/>
                <a:t>ima.txt</a:t>
              </a:r>
              <a:r>
                <a:rPr kumimoji="1" lang="en-US" altLang="ja-JP" dirty="0"/>
                <a:t>     practice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            </a:t>
              </a:r>
              <a:r>
                <a:rPr kumimoji="1" lang="en-US" altLang="ja-JP" dirty="0" err="1"/>
                <a:t>info.txt</a:t>
              </a:r>
              <a:endParaRPr kumimoji="1" lang="en-US" altLang="ja-JP" dirty="0"/>
            </a:p>
          </p:txBody>
        </p: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18C0A749-7D08-F84E-8573-74BE2CC1DAF8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2852959"/>
              <a:ext cx="3600" cy="251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835CE633-0479-71CF-7611-74BF214AD836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847805"/>
              <a:ext cx="14788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DA44CB25-C3AC-CEED-51E3-497E8FD20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1359500"/>
              <a:ext cx="457200" cy="457200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526878B-3E99-EA08-CFFA-632DFC8D2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2183512"/>
              <a:ext cx="457200" cy="45720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7982E698-87C2-0314-CEA6-492995563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8" y="2996089"/>
              <a:ext cx="457200" cy="4572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DD354CF3-4E7B-ED5F-46AE-CECDD098E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6918" y="2978959"/>
              <a:ext cx="457200" cy="457200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7841F91-CDCC-81D0-7C99-A74AF7DAB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6918" y="3774855"/>
              <a:ext cx="457200" cy="457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0E865D01-4DF8-C53B-4BF7-3BDE5487F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448" y="512014"/>
              <a:ext cx="457200" cy="457200"/>
            </a:xfrm>
            <a:prstGeom prst="rect">
              <a:avLst/>
            </a:prstGeom>
          </p:spPr>
        </p:pic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00AEAED-C3DA-CD50-AD73-D36F70C3F35C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7" y="1718528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40B5997-3AD0-1619-8074-3D6A0F2B39D0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538415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95344CC4-A8D4-7B23-304F-5F13BDAD12DA}"/>
                </a:ext>
              </a:extLst>
            </p:cNvPr>
            <p:cNvCxnSpPr>
              <a:cxnSpLocks/>
            </p:cNvCxnSpPr>
            <p:nvPr/>
          </p:nvCxnSpPr>
          <p:spPr>
            <a:xfrm>
              <a:off x="538188" y="892436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EFFD29E9-26D7-C305-B286-C4F399B3EDA2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3339570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2ACE53E-266E-ECAA-A286-65C21CD12960}"/>
              </a:ext>
            </a:extLst>
          </p:cNvPr>
          <p:cNvSpPr/>
          <p:nvPr/>
        </p:nvSpPr>
        <p:spPr>
          <a:xfrm>
            <a:off x="3792050" y="4335868"/>
            <a:ext cx="503633" cy="420627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8ABC078-E8AA-CF05-C395-F621693E9CD2}"/>
              </a:ext>
            </a:extLst>
          </p:cNvPr>
          <p:cNvSpPr/>
          <p:nvPr/>
        </p:nvSpPr>
        <p:spPr>
          <a:xfrm>
            <a:off x="5668649" y="5154346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6C6C379-FB06-3014-73F9-074D58478DD2}"/>
              </a:ext>
            </a:extLst>
          </p:cNvPr>
          <p:cNvSpPr/>
          <p:nvPr/>
        </p:nvSpPr>
        <p:spPr>
          <a:xfrm>
            <a:off x="5668649" y="4337191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40EC063-45F8-08FF-6A02-2AAE9BC79CF3}"/>
              </a:ext>
            </a:extLst>
          </p:cNvPr>
          <p:cNvSpPr/>
          <p:nvPr/>
        </p:nvSpPr>
        <p:spPr>
          <a:xfrm>
            <a:off x="5668649" y="3520036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3E2190F-C1BE-0261-9D5C-844A34728019}"/>
              </a:ext>
            </a:extLst>
          </p:cNvPr>
          <p:cNvSpPr/>
          <p:nvPr/>
        </p:nvSpPr>
        <p:spPr>
          <a:xfrm>
            <a:off x="5635765" y="2679208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5C80A69-77B2-C43C-965B-55ABC34A868E}"/>
              </a:ext>
            </a:extLst>
          </p:cNvPr>
          <p:cNvSpPr/>
          <p:nvPr/>
        </p:nvSpPr>
        <p:spPr>
          <a:xfrm>
            <a:off x="5635765" y="1874655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B39DE9F-DBD9-37EC-EF44-54D66CA14CC2}"/>
              </a:ext>
            </a:extLst>
          </p:cNvPr>
          <p:cNvSpPr txBox="1"/>
          <p:nvPr/>
        </p:nvSpPr>
        <p:spPr>
          <a:xfrm>
            <a:off x="4095568" y="39582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bg2"/>
                </a:solidFill>
              </a:rPr>
              <a:t>ここにいる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8DAA66-0C19-2DF7-E39D-B8D084379CC7}"/>
              </a:ext>
            </a:extLst>
          </p:cNvPr>
          <p:cNvSpPr txBox="1"/>
          <p:nvPr/>
        </p:nvSpPr>
        <p:spPr>
          <a:xfrm>
            <a:off x="-815031" y="126834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/>
              <a:t>相対パス</a:t>
            </a:r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A6210E7-DB8B-A514-263A-1BBB7CAE48B4}"/>
              </a:ext>
            </a:extLst>
          </p:cNvPr>
          <p:cNvSpPr/>
          <p:nvPr/>
        </p:nvSpPr>
        <p:spPr>
          <a:xfrm>
            <a:off x="-815031" y="4337191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95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BE96-E253-1C6D-52ED-25568998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82B6B92-E0B3-20DD-7F51-15568EC26483}"/>
              </a:ext>
            </a:extLst>
          </p:cNvPr>
          <p:cNvGrpSpPr/>
          <p:nvPr/>
        </p:nvGrpSpPr>
        <p:grpSpPr>
          <a:xfrm>
            <a:off x="2123983" y="786316"/>
            <a:ext cx="3139791" cy="3738966"/>
            <a:chOff x="316448" y="512014"/>
            <a:chExt cx="3139791" cy="3738966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F084C48-251F-327A-C41C-2CB6838DC8D6}"/>
                </a:ext>
              </a:extLst>
            </p:cNvPr>
            <p:cNvSpPr txBox="1">
              <a:spLocks/>
            </p:cNvSpPr>
            <p:nvPr/>
          </p:nvSpPr>
          <p:spPr>
            <a:xfrm>
              <a:off x="738828" y="557661"/>
              <a:ext cx="2717411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/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home, Users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taro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 err="1"/>
                <a:t>ima.txt</a:t>
              </a:r>
              <a:r>
                <a:rPr kumimoji="1" lang="en-US" altLang="ja-JP" dirty="0"/>
                <a:t>     practice</a:t>
              </a:r>
            </a:p>
            <a:p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en-US" altLang="ja-JP" dirty="0"/>
                <a:t>            </a:t>
              </a:r>
              <a:r>
                <a:rPr kumimoji="1" lang="en-US" altLang="ja-JP" dirty="0" err="1"/>
                <a:t>info.txt</a:t>
              </a:r>
              <a:endParaRPr kumimoji="1" lang="en-US" altLang="ja-JP" dirty="0"/>
            </a:p>
          </p:txBody>
        </p: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9EC1227A-4A0C-C89C-DCE3-562F336BD3C0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2852959"/>
              <a:ext cx="3600" cy="251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D70CE496-9166-DA5D-A166-659D549A7D59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847805"/>
              <a:ext cx="14788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FDC94EF3-BC3F-EAE5-0DD5-D4FCC4606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1359500"/>
              <a:ext cx="457200" cy="457200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12A40CA-E555-6B0B-DBB4-51CB933D4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68" y="2183512"/>
              <a:ext cx="457200" cy="45720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5C2622AF-6990-DCFB-F58B-3632C0ABE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8" y="2996089"/>
              <a:ext cx="457200" cy="4572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0030CE53-5B38-65A6-6D61-6D9F310F7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6918" y="2978959"/>
              <a:ext cx="457200" cy="457200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6730C3E-DB47-8674-CF04-965C2F6ED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6918" y="3774855"/>
              <a:ext cx="457200" cy="457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17119BE9-91A0-AAB4-8E18-FFBC96E8E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448" y="512014"/>
              <a:ext cx="457200" cy="457200"/>
            </a:xfrm>
            <a:prstGeom prst="rect">
              <a:avLst/>
            </a:prstGeom>
          </p:spPr>
        </p:pic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B3A904DA-E6F9-B596-C8E3-CFA40E4A2B2E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7" y="1718528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FF03339A-D075-EA18-9FE1-F797C2C4BE52}"/>
                </a:ext>
              </a:extLst>
            </p:cNvPr>
            <p:cNvCxnSpPr>
              <a:cxnSpLocks/>
            </p:cNvCxnSpPr>
            <p:nvPr/>
          </p:nvCxnSpPr>
          <p:spPr>
            <a:xfrm>
              <a:off x="542481" y="2538415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D9175D9-64D5-697B-317B-443DCFF15445}"/>
                </a:ext>
              </a:extLst>
            </p:cNvPr>
            <p:cNvCxnSpPr>
              <a:cxnSpLocks/>
            </p:cNvCxnSpPr>
            <p:nvPr/>
          </p:nvCxnSpPr>
          <p:spPr>
            <a:xfrm>
              <a:off x="538188" y="892436"/>
              <a:ext cx="360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766975E-509A-4FC4-FF84-83A7D9410ADB}"/>
                </a:ext>
              </a:extLst>
            </p:cNvPr>
            <p:cNvCxnSpPr>
              <a:cxnSpLocks/>
            </p:cNvCxnSpPr>
            <p:nvPr/>
          </p:nvCxnSpPr>
          <p:spPr>
            <a:xfrm>
              <a:off x="2021294" y="3339570"/>
              <a:ext cx="3600" cy="5039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1FF9AD-42BD-871B-B49A-32E58D6FE2A9}"/>
              </a:ext>
            </a:extLst>
          </p:cNvPr>
          <p:cNvSpPr/>
          <p:nvPr/>
        </p:nvSpPr>
        <p:spPr>
          <a:xfrm>
            <a:off x="2077550" y="2462182"/>
            <a:ext cx="503633" cy="420627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2B9B9D-42E7-655B-CD8C-C97E42507996}"/>
              </a:ext>
            </a:extLst>
          </p:cNvPr>
          <p:cNvSpPr/>
          <p:nvPr/>
        </p:nvSpPr>
        <p:spPr>
          <a:xfrm>
            <a:off x="5478149" y="4087546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C331FB2-E1CC-EC33-C14B-1727DF7BDA91}"/>
              </a:ext>
            </a:extLst>
          </p:cNvPr>
          <p:cNvSpPr/>
          <p:nvPr/>
        </p:nvSpPr>
        <p:spPr>
          <a:xfrm>
            <a:off x="5478149" y="3270391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C433384-EC60-5D0D-8274-AB001FE02FBD}"/>
              </a:ext>
            </a:extLst>
          </p:cNvPr>
          <p:cNvSpPr/>
          <p:nvPr/>
        </p:nvSpPr>
        <p:spPr>
          <a:xfrm>
            <a:off x="5478149" y="2453236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9A2371C-DEE1-0E96-AEEE-F0844B64AEE9}"/>
              </a:ext>
            </a:extLst>
          </p:cNvPr>
          <p:cNvSpPr/>
          <p:nvPr/>
        </p:nvSpPr>
        <p:spPr>
          <a:xfrm>
            <a:off x="5445265" y="1612408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2328371-A4CA-E251-8614-72E9B96C89D8}"/>
              </a:ext>
            </a:extLst>
          </p:cNvPr>
          <p:cNvSpPr/>
          <p:nvPr/>
        </p:nvSpPr>
        <p:spPr>
          <a:xfrm>
            <a:off x="5445265" y="807855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0B01CB7-401B-B619-3CDF-D43DCDE50895}"/>
              </a:ext>
            </a:extLst>
          </p:cNvPr>
          <p:cNvSpPr txBox="1"/>
          <p:nvPr/>
        </p:nvSpPr>
        <p:spPr>
          <a:xfrm>
            <a:off x="661673" y="254038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bg2"/>
                </a:solidFill>
              </a:rPr>
              <a:t>ここにいる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D7CA246-1E76-656A-3172-0253A6A5D5DB}"/>
              </a:ext>
            </a:extLst>
          </p:cNvPr>
          <p:cNvSpPr/>
          <p:nvPr/>
        </p:nvSpPr>
        <p:spPr>
          <a:xfrm>
            <a:off x="-1059294" y="3291650"/>
            <a:ext cx="3059795" cy="380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058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EFBBD-DAA5-1A37-ABAB-CFA7CBBB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6ECD359-1D35-0C58-B230-990BEDA8ED85}"/>
              </a:ext>
            </a:extLst>
          </p:cNvPr>
          <p:cNvSpPr txBox="1">
            <a:spLocks/>
          </p:cNvSpPr>
          <p:nvPr/>
        </p:nvSpPr>
        <p:spPr>
          <a:xfrm>
            <a:off x="3163052" y="1331694"/>
            <a:ext cx="69121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/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taro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F7BB112-FA93-B265-6BF1-99A4549AE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592" y="2133533"/>
            <a:ext cx="457200" cy="4572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549BE99-7175-CE5D-608C-C3A51F8E1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592" y="2957545"/>
            <a:ext cx="457200" cy="4572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E1E45CC-4137-1317-984C-AA878C62D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672" y="1286047"/>
            <a:ext cx="457200" cy="457200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90BF944-6D9B-4EE2-6356-D6D3A751450F}"/>
              </a:ext>
            </a:extLst>
          </p:cNvPr>
          <p:cNvCxnSpPr>
            <a:cxnSpLocks/>
          </p:cNvCxnSpPr>
          <p:nvPr/>
        </p:nvCxnSpPr>
        <p:spPr>
          <a:xfrm>
            <a:off x="2977961" y="2492561"/>
            <a:ext cx="3600" cy="576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9BC41FE8-2639-90A0-CAEC-85021780FD9A}"/>
              </a:ext>
            </a:extLst>
          </p:cNvPr>
          <p:cNvCxnSpPr>
            <a:cxnSpLocks/>
          </p:cNvCxnSpPr>
          <p:nvPr/>
        </p:nvCxnSpPr>
        <p:spPr>
          <a:xfrm>
            <a:off x="2966705" y="3312448"/>
            <a:ext cx="3600" cy="5039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16EF212-E331-9EAF-2249-19282EE959D5}"/>
              </a:ext>
            </a:extLst>
          </p:cNvPr>
          <p:cNvCxnSpPr>
            <a:cxnSpLocks/>
          </p:cNvCxnSpPr>
          <p:nvPr/>
        </p:nvCxnSpPr>
        <p:spPr>
          <a:xfrm>
            <a:off x="2962412" y="1666469"/>
            <a:ext cx="3600" cy="576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5346850-983F-4DBC-98B7-7C1DF811018F}"/>
              </a:ext>
            </a:extLst>
          </p:cNvPr>
          <p:cNvSpPr/>
          <p:nvPr/>
        </p:nvSpPr>
        <p:spPr>
          <a:xfrm>
            <a:off x="2715505" y="2971945"/>
            <a:ext cx="503633" cy="420627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5E1FD91-46AE-A1C8-97AC-801A191EC392}"/>
              </a:ext>
            </a:extLst>
          </p:cNvPr>
          <p:cNvSpPr txBox="1"/>
          <p:nvPr/>
        </p:nvSpPr>
        <p:spPr>
          <a:xfrm>
            <a:off x="1331625" y="298499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bg2"/>
                </a:solidFill>
              </a:rPr>
              <a:t>ここにいる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64160243-0C2F-483B-BED1-936585E50EE8}"/>
              </a:ext>
            </a:extLst>
          </p:cNvPr>
          <p:cNvCxnSpPr>
            <a:cxnSpLocks/>
          </p:cNvCxnSpPr>
          <p:nvPr/>
        </p:nvCxnSpPr>
        <p:spPr>
          <a:xfrm>
            <a:off x="5082332" y="1958117"/>
            <a:ext cx="3600" cy="2519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2D5C7F5-B87C-21D0-D62B-DF9C7BAA713B}"/>
              </a:ext>
            </a:extLst>
          </p:cNvPr>
          <p:cNvCxnSpPr>
            <a:cxnSpLocks/>
          </p:cNvCxnSpPr>
          <p:nvPr/>
        </p:nvCxnSpPr>
        <p:spPr>
          <a:xfrm flipV="1">
            <a:off x="2955101" y="1954469"/>
            <a:ext cx="212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図 27">
            <a:extLst>
              <a:ext uri="{FF2B5EF4-FFF2-40B4-BE49-F238E27FC236}">
                <a16:creationId xmlns:a16="http://schemas.microsoft.com/office/drawing/2014/main" id="{02C52F02-6218-DA3E-1D42-17163F897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478" y="2116403"/>
            <a:ext cx="457200" cy="45720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CA34AD6-6AD4-4DC0-48DF-5C2014A7B374}"/>
              </a:ext>
            </a:extLst>
          </p:cNvPr>
          <p:cNvSpPr txBox="1"/>
          <p:nvPr/>
        </p:nvSpPr>
        <p:spPr>
          <a:xfrm>
            <a:off x="3187752" y="2027230"/>
            <a:ext cx="15455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home</a:t>
            </a:r>
          </a:p>
          <a:p>
            <a:r>
              <a:rPr kumimoji="1" lang="ja-JP" altLang="en-US"/>
              <a:t>または</a:t>
            </a:r>
            <a:r>
              <a:rPr kumimoji="1" lang="en-US" altLang="ja-JP" dirty="0"/>
              <a:t>Users</a:t>
            </a: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BFC1F0CD-5BD9-BF3E-CB59-C218B7C24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607" y="2907306"/>
            <a:ext cx="457200" cy="457200"/>
          </a:xfrm>
          <a:prstGeom prst="rect">
            <a:avLst/>
          </a:prstGeom>
        </p:spPr>
      </p:pic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7AD906A8-C2D6-0A1D-E8BC-14EFDDBEB8F3}"/>
              </a:ext>
            </a:extLst>
          </p:cNvPr>
          <p:cNvCxnSpPr>
            <a:cxnSpLocks/>
          </p:cNvCxnSpPr>
          <p:nvPr/>
        </p:nvCxnSpPr>
        <p:spPr>
          <a:xfrm>
            <a:off x="5108983" y="2472021"/>
            <a:ext cx="3600" cy="5039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9CEB435-374C-7662-6BCE-2838FCC0AA26}"/>
              </a:ext>
            </a:extLst>
          </p:cNvPr>
          <p:cNvCxnSpPr>
            <a:cxnSpLocks/>
          </p:cNvCxnSpPr>
          <p:nvPr/>
        </p:nvCxnSpPr>
        <p:spPr>
          <a:xfrm>
            <a:off x="5108983" y="2737175"/>
            <a:ext cx="147881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図 34">
            <a:extLst>
              <a:ext uri="{FF2B5EF4-FFF2-40B4-BE49-F238E27FC236}">
                <a16:creationId xmlns:a16="http://schemas.microsoft.com/office/drawing/2014/main" id="{98421023-E8A6-0A81-BFDA-178C6A428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652" y="2900748"/>
            <a:ext cx="457200" cy="457200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6AFE3DE-75E9-3FA2-0366-16C470EA8F1D}"/>
              </a:ext>
            </a:extLst>
          </p:cNvPr>
          <p:cNvSpPr txBox="1"/>
          <p:nvPr/>
        </p:nvSpPr>
        <p:spPr>
          <a:xfrm>
            <a:off x="5292669" y="2160337"/>
            <a:ext cx="1577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bin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cp       ls</a:t>
            </a:r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E15E962A-10A3-D6B0-CEF0-508D4AF93E39}"/>
              </a:ext>
            </a:extLst>
          </p:cNvPr>
          <p:cNvCxnSpPr>
            <a:cxnSpLocks/>
          </p:cNvCxnSpPr>
          <p:nvPr/>
        </p:nvCxnSpPr>
        <p:spPr>
          <a:xfrm>
            <a:off x="6229142" y="2716307"/>
            <a:ext cx="3600" cy="2519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19FD6C61-60D9-B6F4-4CDD-72BBE64D03CB}"/>
              </a:ext>
            </a:extLst>
          </p:cNvPr>
          <p:cNvCxnSpPr>
            <a:cxnSpLocks/>
          </p:cNvCxnSpPr>
          <p:nvPr/>
        </p:nvCxnSpPr>
        <p:spPr>
          <a:xfrm>
            <a:off x="2855737" y="2500204"/>
            <a:ext cx="3600" cy="503999"/>
          </a:xfrm>
          <a:prstGeom prst="line">
            <a:avLst/>
          </a:prstGeom>
          <a:ln w="25400">
            <a:solidFill>
              <a:schemeClr val="bg2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512D8ED-EA21-BBBF-E9A2-2F7DB41500F8}"/>
              </a:ext>
            </a:extLst>
          </p:cNvPr>
          <p:cNvSpPr/>
          <p:nvPr/>
        </p:nvSpPr>
        <p:spPr>
          <a:xfrm>
            <a:off x="4857166" y="2128005"/>
            <a:ext cx="503633" cy="420627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F5621A2-57D2-29FB-627F-40F7F6D02FA3}"/>
              </a:ext>
            </a:extLst>
          </p:cNvPr>
          <p:cNvSpPr txBox="1"/>
          <p:nvPr/>
        </p:nvSpPr>
        <p:spPr>
          <a:xfrm>
            <a:off x="5770990" y="2038967"/>
            <a:ext cx="237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bg2"/>
                </a:solidFill>
              </a:rPr>
              <a:t>絶対パス </a:t>
            </a:r>
            <a:r>
              <a:rPr kumimoji="1" lang="en-US" altLang="ja-JP" dirty="0">
                <a:solidFill>
                  <a:schemeClr val="bg2"/>
                </a:solidFill>
              </a:rPr>
              <a:t>/bin</a:t>
            </a:r>
          </a:p>
          <a:p>
            <a:r>
              <a:rPr kumimoji="1" lang="ja-JP" altLang="en-US">
                <a:solidFill>
                  <a:schemeClr val="bg2"/>
                </a:solidFill>
              </a:rPr>
              <a:t>相対パス</a:t>
            </a:r>
            <a:r>
              <a:rPr kumimoji="1" lang="en-US" altLang="ja-JP" dirty="0">
                <a:solidFill>
                  <a:schemeClr val="bg2"/>
                </a:solidFill>
              </a:rPr>
              <a:t> ../../bin</a:t>
            </a:r>
            <a:endParaRPr kumimoji="1" lang="ja-JP" altLang="en-US">
              <a:solidFill>
                <a:schemeClr val="bg2"/>
              </a:solidFill>
            </a:endParaRP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3C583352-D914-8838-B060-E0E16DAD7D3B}"/>
              </a:ext>
            </a:extLst>
          </p:cNvPr>
          <p:cNvCxnSpPr>
            <a:cxnSpLocks/>
          </p:cNvCxnSpPr>
          <p:nvPr/>
        </p:nvCxnSpPr>
        <p:spPr>
          <a:xfrm>
            <a:off x="2836591" y="1675240"/>
            <a:ext cx="3600" cy="503999"/>
          </a:xfrm>
          <a:prstGeom prst="line">
            <a:avLst/>
          </a:prstGeom>
          <a:ln w="25400">
            <a:solidFill>
              <a:schemeClr val="bg2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A01FA107-865F-5CA4-5783-0911C3623016}"/>
              </a:ext>
            </a:extLst>
          </p:cNvPr>
          <p:cNvCxnSpPr>
            <a:cxnSpLocks/>
          </p:cNvCxnSpPr>
          <p:nvPr/>
        </p:nvCxnSpPr>
        <p:spPr>
          <a:xfrm flipH="1" flipV="1">
            <a:off x="4980881" y="1840771"/>
            <a:ext cx="3048" cy="247886"/>
          </a:xfrm>
          <a:prstGeom prst="line">
            <a:avLst/>
          </a:prstGeom>
          <a:ln w="25400">
            <a:solidFill>
              <a:schemeClr val="bg2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C9B8C1B4-1C65-90A1-5EF1-FD1AC82CAFCF}"/>
              </a:ext>
            </a:extLst>
          </p:cNvPr>
          <p:cNvCxnSpPr>
            <a:cxnSpLocks/>
          </p:cNvCxnSpPr>
          <p:nvPr/>
        </p:nvCxnSpPr>
        <p:spPr>
          <a:xfrm>
            <a:off x="3052842" y="1840771"/>
            <a:ext cx="192803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ED6E915A-8696-AE5A-945A-794F8199AE8F}"/>
              </a:ext>
            </a:extLst>
          </p:cNvPr>
          <p:cNvCxnSpPr>
            <a:cxnSpLocks/>
          </p:cNvCxnSpPr>
          <p:nvPr/>
        </p:nvCxnSpPr>
        <p:spPr>
          <a:xfrm flipV="1">
            <a:off x="3052842" y="1677199"/>
            <a:ext cx="0" cy="163572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24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マテリアル">
      <a:dk1>
        <a:srgbClr val="000000"/>
      </a:dk1>
      <a:lt1>
        <a:srgbClr val="FFFFFF"/>
      </a:lt1>
      <a:dk2>
        <a:srgbClr val="757575"/>
      </a:dk2>
      <a:lt2>
        <a:srgbClr val="EE0000"/>
      </a:lt2>
      <a:accent1>
        <a:srgbClr val="ED0000"/>
      </a:accent1>
      <a:accent2>
        <a:srgbClr val="9C27AF"/>
      </a:accent2>
      <a:accent3>
        <a:srgbClr val="3E50B5"/>
      </a:accent3>
      <a:accent4>
        <a:srgbClr val="4CAE50"/>
      </a:accent4>
      <a:accent5>
        <a:srgbClr val="FF9800"/>
      </a:accent5>
      <a:accent6>
        <a:srgbClr val="785448"/>
      </a:accent6>
      <a:hlink>
        <a:srgbClr val="5F5F5F"/>
      </a:hlink>
      <a:folHlink>
        <a:srgbClr val="919191"/>
      </a:folHlink>
    </a:clrScheme>
    <a:fontScheme name="BIZ UDゴシック">
      <a:majorFont>
        <a:latin typeface="Consolas"/>
        <a:ea typeface="BIZ UDゴシック"/>
        <a:cs typeface=""/>
      </a:majorFont>
      <a:minorFont>
        <a:latin typeface="Consolas"/>
        <a:ea typeface="BIZ UD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1章" id="{D7C6387F-C6D9-5F45-9041-8408AC8ED79C}" vid="{E9AE34F4-E6B6-CE45-B084-5F11BA02A5E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テーマ</Template>
  <TotalTime>497</TotalTime>
  <Words>380</Words>
  <Application>Microsoft Macintosh PowerPoint</Application>
  <PresentationFormat>画面に合わせる (4:3)</PresentationFormat>
  <Paragraphs>186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Arial</vt:lpstr>
      <vt:lpstr>Consolas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データベース</dc:title>
  <dc:creator>小久保 温</dc:creator>
  <cp:lastModifiedBy>温 小久保</cp:lastModifiedBy>
  <cp:revision>17</cp:revision>
  <dcterms:created xsi:type="dcterms:W3CDTF">2024-04-10T06:55:31Z</dcterms:created>
  <dcterms:modified xsi:type="dcterms:W3CDTF">2025-06-03T05:50:27Z</dcterms:modified>
</cp:coreProperties>
</file>